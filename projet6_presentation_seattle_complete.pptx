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F587E9D-0230-FC40-C6EB-ADC8C618C1AA}">
          <p14:sldIdLst>
            <p14:sldId id="256"/>
            <p14:sldId id="257"/>
          </p14:sldIdLst>
        </p14:section>
        <p14:section name="Analyse exploratoire" id="{AD611829-5D1E-A9A1-8B53-6ABEBE2A551E}">
          <p14:sldIdLst>
            <p14:sldId id="258"/>
            <p14:sldId id="259"/>
            <p14:sldId id="260"/>
            <p14:sldId id="261"/>
          </p14:sldIdLst>
        </p14:section>
        <p14:section name="Préparation et modélisation" id="{4646EECE-3524-0577-1891-5CFEEF8C8C22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  <p14:sldId id="271"/>
            <p14:sldId id="272"/>
            <p14:sldId id="273"/>
            <p14:sldId id="274"/>
          </p14:sldIdLst>
        </p14:section>
        <p14:section name="Conclusion" id="{607B650C-6D12-3944-EF9C-2DE44DFCC1B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2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Bâtiments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263A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Brut</c:v>
                </c:pt>
                <c:pt idx="1">
                  <c:v>Hors logements</c:v>
                </c:pt>
                <c:pt idx="2">
                  <c:v>Relevés conformes</c:v>
                </c:pt>
                <c:pt idx="3">
                  <c:v>Valeurs cohérentes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3376</c:v>
                </c:pt>
                <c:pt idx="1">
                  <c:v>1668</c:v>
                </c:pt>
                <c:pt idx="2">
                  <c:v>1548</c:v>
                </c:pt>
                <c:pt idx="3">
                  <c:v>1479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C-4663-9152-79F22E5424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2263A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Longitude</c:v>
                </c:pt>
                <c:pt idx="1">
                  <c:v>Surface par étage</c:v>
                </c:pt>
                <c:pt idx="2">
                  <c:v>Surface de parking</c:v>
                </c:pt>
                <c:pt idx="3">
                  <c:v>Nombre d'étages</c:v>
                </c:pt>
                <c:pt idx="4">
                  <c:v>Type de propriété</c:v>
                </c:pt>
                <c:pt idx="5">
                  <c:v>Surface totale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3.9</c:v>
                </c:pt>
                <c:pt idx="2">
                  <c:v>4.0999999999999996</c:v>
                </c:pt>
                <c:pt idx="3">
                  <c:v>10.5</c:v>
                </c:pt>
                <c:pt idx="4">
                  <c:v>10.8</c:v>
                </c:pt>
                <c:pt idx="5">
                  <c:v>54.9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66-4F1A-9E53-5191AE971A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2263A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Latitude</c:v>
                </c:pt>
                <c:pt idx="1">
                  <c:v>Nombre d'étages</c:v>
                </c:pt>
                <c:pt idx="2">
                  <c:v>Longitude</c:v>
                </c:pt>
                <c:pt idx="3">
                  <c:v>Surface par étage</c:v>
                </c:pt>
                <c:pt idx="4">
                  <c:v>Type de propriété</c:v>
                </c:pt>
                <c:pt idx="5">
                  <c:v>Surface totale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3.7</c:v>
                </c:pt>
                <c:pt idx="1">
                  <c:v>3.8</c:v>
                </c:pt>
                <c:pt idx="2">
                  <c:v>5.0999999999999996</c:v>
                </c:pt>
                <c:pt idx="3">
                  <c:v>6.3</c:v>
                </c:pt>
                <c:pt idx="4">
                  <c:v>20.3</c:v>
                </c:pt>
                <c:pt idx="5">
                  <c:v>42.9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90-470D-B933-73E2CC2322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3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</a:rPr>
              <a:t>Projet 6 – Bâtiments de Seattle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Anticiper la consommation d'énergie et les émissions de CO2 des bâtiments de Seattle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3E0"/>
                </a:solidFill>
              </a:rPr>
              <a:t>Modélisation supervisée sur les relevés 2016, puis mise à disposition par une API BentoML déployée sur Google Cloud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Projet 6  |  Objectif ville neutre en carbone en 2050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Seattle vise la neutralité carbone en 2050, mais relever chaque bâtiment coûte cher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 relevés de consommation sont coûteux à obtenir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Idée : prédire la consommation d'énergie et les émissions de CO2 à partir de ce que l'on sait déjà d'un bâtiment (taille, usage, âge, localisation)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Intérêt pour la ville : estimer les bâtiments non encore mesurés et cibler les plus gros contributeurs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0" y="1234440"/>
            <a:ext cx="365760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029200" y="1307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3 376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relevés dans le fichier 2016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2423160"/>
            <a:ext cx="365760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5029200" y="24963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1 479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bâtiments non résidentiels modélisés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3611880"/>
            <a:ext cx="365760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029200" y="3685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cibles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énergie (kBtu) et CO2 (tonnes)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 colonnes décrivent chaque bâtiment, mais plusieurs sont presque vides</a:t>
            </a:r>
            <a:endParaRPr lang="en-US" sz="2400" dirty="0"/>
          </a:p>
        </p:txBody>
      </p:sp>
      <p:pic>
        <p:nvPicPr>
          <p:cNvPr id="3" name="Image 0" descr="Nombre de valeurs renseignées et vides par colon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615184" cy="3657600"/>
          </a:xfrm>
          <a:prstGeom prst="rect">
            <a:avLst/>
          </a:prstGeom>
        </p:spPr>
      </p:pic>
      <p:sp>
        <p:nvSpPr>
          <p:cNvPr id="4" name="c1 fond"/>
          <p:cNvSpPr/>
          <p:nvPr/>
        </p:nvSpPr>
        <p:spPr>
          <a:xfrm>
            <a:off x="3383280" y="1097280"/>
            <a:ext cx="2651760" cy="10515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c1 puce"/>
          <p:cNvSpPr/>
          <p:nvPr/>
        </p:nvSpPr>
        <p:spPr>
          <a:xfrm>
            <a:off x="3520440" y="1234440"/>
            <a:ext cx="128016" cy="128016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373075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Structure et usage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Surfaces, étages, année, type de propriété, usages (principal, 2ᵉ, 3ᵉ)</a:t>
            </a:r>
            <a:endParaRPr lang="en-US" sz="1200" dirty="0"/>
          </a:p>
        </p:txBody>
      </p:sp>
      <p:sp>
        <p:nvSpPr>
          <p:cNvPr id="8" name="c2 fond"/>
          <p:cNvSpPr/>
          <p:nvPr/>
        </p:nvSpPr>
        <p:spPr>
          <a:xfrm>
            <a:off x="6172200" y="1097280"/>
            <a:ext cx="2514600" cy="10515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c2 puce"/>
          <p:cNvSpPr/>
          <p:nvPr/>
        </p:nvSpPr>
        <p:spPr>
          <a:xfrm>
            <a:off x="6309360" y="1234440"/>
            <a:ext cx="128016" cy="128016"/>
          </a:xfrm>
          <a:prstGeom prst="ellipse">
            <a:avLst/>
          </a:prstGeom>
          <a:solidFill>
            <a:srgbClr val="6C8EAD"/>
          </a:solidFill>
          <a:ln w="12700">
            <a:solidFill>
              <a:srgbClr val="6C8E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6519672" y="1170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Localisation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508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Quartier, latitude, longitude</a:t>
            </a:r>
            <a:endParaRPr lang="en-US" sz="1200" dirty="0"/>
          </a:p>
        </p:txBody>
      </p:sp>
      <p:sp>
        <p:nvSpPr>
          <p:cNvPr id="12" name="c3 fond"/>
          <p:cNvSpPr/>
          <p:nvPr/>
        </p:nvSpPr>
        <p:spPr>
          <a:xfrm>
            <a:off x="3383280" y="2286000"/>
            <a:ext cx="2651760" cy="10515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c3 puce"/>
          <p:cNvSpPr/>
          <p:nvPr/>
        </p:nvSpPr>
        <p:spPr>
          <a:xfrm>
            <a:off x="3520440" y="242316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3730752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Énergie et émissions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697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Cibles à prédire. Les autres colonnes dérivées sont exclues (fuite de données)</a:t>
            </a:r>
            <a:endParaRPr lang="en-US" sz="1200" dirty="0"/>
          </a:p>
        </p:txBody>
      </p:sp>
      <p:sp>
        <p:nvSpPr>
          <p:cNvPr id="16" name="c4 fond"/>
          <p:cNvSpPr/>
          <p:nvPr/>
        </p:nvSpPr>
        <p:spPr>
          <a:xfrm>
            <a:off x="6172200" y="2286000"/>
            <a:ext cx="2514600" cy="10515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c4 puce"/>
          <p:cNvSpPr/>
          <p:nvPr/>
        </p:nvSpPr>
        <p:spPr>
          <a:xfrm>
            <a:off x="6309360" y="2423160"/>
            <a:ext cx="128016" cy="12801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6519672" y="2359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Vides à comprendre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697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Comments 100 %, Outlier 99 %, ENERGY STAR 25 %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3520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2263A"/>
                </a:solidFill>
              </a:rPr>
              <a:t>Les 2ᵉ et 3ᵉ usages sont vides car le bâtiment n'en a qu'un : ce n'est pas un trou de données, c'est une information.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nettoyage ramène 3 376 relevés à 1 479 bâtiments fiables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9728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n1 fond"/>
          <p:cNvSpPr/>
          <p:nvPr/>
        </p:nvSpPr>
        <p:spPr>
          <a:xfrm>
            <a:off x="5486400" y="1097280"/>
            <a:ext cx="3200400" cy="10515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n1 puce"/>
          <p:cNvSpPr/>
          <p:nvPr/>
        </p:nvSpPr>
        <p:spPr>
          <a:xfrm>
            <a:off x="5623560" y="1234440"/>
            <a:ext cx="128016" cy="12801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5833872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Hors périmètre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23560" y="1508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Logements collectifs (Multifamily) : −1 708 lignes</a:t>
            </a:r>
            <a:endParaRPr lang="en-US" sz="1200" dirty="0"/>
          </a:p>
        </p:txBody>
      </p:sp>
      <p:sp>
        <p:nvSpPr>
          <p:cNvPr id="8" name="n2 fond"/>
          <p:cNvSpPr/>
          <p:nvPr/>
        </p:nvSpPr>
        <p:spPr>
          <a:xfrm>
            <a:off x="5486400" y="2286000"/>
            <a:ext cx="3200400" cy="10515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n2 puce"/>
          <p:cNvSpPr/>
          <p:nvPr/>
        </p:nvSpPr>
        <p:spPr>
          <a:xfrm>
            <a:off x="5623560" y="242316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5833872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Relevés peu fiables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Seuls les relevés « Compliant » sont gardés : −120</a:t>
            </a:r>
            <a:endParaRPr lang="en-US" sz="1200" dirty="0"/>
          </a:p>
        </p:txBody>
      </p:sp>
      <p:sp>
        <p:nvSpPr>
          <p:cNvPr id="12" name="n3 fond"/>
          <p:cNvSpPr/>
          <p:nvPr/>
        </p:nvSpPr>
        <p:spPr>
          <a:xfrm>
            <a:off x="5486400" y="3474720"/>
            <a:ext cx="3200400" cy="109728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n3 puce"/>
          <p:cNvSpPr/>
          <p:nvPr/>
        </p:nvSpPr>
        <p:spPr>
          <a:xfrm>
            <a:off x="5623560" y="3611880"/>
            <a:ext cx="128016" cy="128016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5833872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Valeurs incohérentes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Cibles absentes ou nulles, 0 étage ou 0 bâtiment : −69. Les extrêmes (−28) ne sont retirés que de l'entraînement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Quelques gros bâtiments tirent la consommation et les émissions vers le haut</a:t>
            </a:r>
            <a:endParaRPr lang="en-US" sz="2400" dirty="0"/>
          </a:p>
        </p:txBody>
      </p:sp>
      <p:pic>
        <p:nvPicPr>
          <p:cNvPr id="3" name="Image 0" descr="Distribution des deux ci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2453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611880"/>
            <a:ext cx="192024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457200" y="3685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 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médiane énergie (kBtu)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14600" y="3611880"/>
            <a:ext cx="192024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2514600" y="3685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8,2 M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moyenne énergie (kBtu)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3611880"/>
            <a:ext cx="192024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4709160" y="3685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 t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médiane CO2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3611880"/>
            <a:ext cx="192024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6766560" y="3685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 t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moyenne CO2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taille et l'usage expliquent l'essentiel des écarts de consommation</a:t>
            </a:r>
            <a:endParaRPr lang="en-US" sz="2400" dirty="0"/>
          </a:p>
        </p:txBody>
      </p:sp>
      <p:pic>
        <p:nvPicPr>
          <p:cNvPr id="3" name="Image 0" descr="Consommation par type de propriété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4297680" cy="2115781"/>
          </a:xfrm>
          <a:prstGeom prst="rect">
            <a:avLst/>
          </a:prstGeom>
        </p:spPr>
      </p:pic>
      <p:pic>
        <p:nvPicPr>
          <p:cNvPr id="4" name="Image 1" descr="Surface vs consommation et émiss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4023360" cy="146667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Plus un bâtiment est grand, plus il consomme et émet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Hôpitaux, laboratoires et supermarchés consomment bien plus que les entrepôts, à surface comparable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L'âge seul n'a pas d'effet net sur l'intensité énergétique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Quinze variables décrivent la structure des bâtiments, dont six créées</a:t>
            </a:r>
            <a:endParaRPr lang="en-US" sz="2400" dirty="0"/>
          </a:p>
        </p:txBody>
      </p:sp>
      <p:sp>
        <p:nvSpPr>
          <p:cNvPr id="3" name="f1 fond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1 puce"/>
          <p:cNvSpPr/>
          <p:nvPr/>
        </p:nvSpPr>
        <p:spPr>
          <a:xfrm>
            <a:off x="594360" y="1234440"/>
            <a:ext cx="128016" cy="128016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0467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Temporalité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Âge du bâtiment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Epoque de construction en 6 tranches</a:t>
            </a:r>
            <a:endParaRPr lang="en-US" sz="1200" dirty="0"/>
          </a:p>
        </p:txBody>
      </p:sp>
      <p:sp>
        <p:nvSpPr>
          <p:cNvPr id="7" name="f2 fond"/>
          <p:cNvSpPr/>
          <p:nvPr/>
        </p:nvSpPr>
        <p:spPr>
          <a:xfrm>
            <a:off x="3246120" y="109728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f2 puce"/>
          <p:cNvSpPr/>
          <p:nvPr/>
        </p:nvSpPr>
        <p:spPr>
          <a:xfrm>
            <a:off x="3383280" y="1234440"/>
            <a:ext cx="128016" cy="128016"/>
          </a:xfrm>
          <a:prstGeom prst="ellipse">
            <a:avLst/>
          </a:prstGeom>
          <a:solidFill>
            <a:srgbClr val="6C8EAD"/>
          </a:solidFill>
          <a:ln w="12700">
            <a:solidFill>
              <a:srgbClr val="6C8E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59359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Structure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Surface par étage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Part de parking dans la surface totale</a:t>
            </a:r>
            <a:endParaRPr lang="en-US" sz="1200" dirty="0"/>
          </a:p>
        </p:txBody>
      </p:sp>
      <p:sp>
        <p:nvSpPr>
          <p:cNvPr id="11" name="f3 fond"/>
          <p:cNvSpPr/>
          <p:nvPr/>
        </p:nvSpPr>
        <p:spPr>
          <a:xfrm>
            <a:off x="6035040" y="109728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f3 puce"/>
          <p:cNvSpPr/>
          <p:nvPr/>
        </p:nvSpPr>
        <p:spPr>
          <a:xfrm>
            <a:off x="6172200" y="123444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38251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Usages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Nombre d'usages (1 à 3) </a:t>
            </a:r>
          </a:p>
        </p:txBody>
      </p:sp>
      <p:sp>
        <p:nvSpPr>
          <p:cNvPr id="15" name="f4 fond"/>
          <p:cNvSpPr/>
          <p:nvPr/>
        </p:nvSpPr>
        <p:spPr>
          <a:xfrm>
            <a:off x="457200" y="242316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4 puce"/>
          <p:cNvSpPr/>
          <p:nvPr/>
        </p:nvSpPr>
        <p:spPr>
          <a:xfrm>
            <a:off x="594360" y="2560320"/>
            <a:ext cx="128016" cy="12801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04672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Localisation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Distance au centre-ville en km (calcul sur latitude et longitude)</a:t>
            </a:r>
            <a:endParaRPr lang="en-US" sz="1200" dirty="0"/>
          </a:p>
        </p:txBody>
      </p:sp>
      <p:sp>
        <p:nvSpPr>
          <p:cNvPr id="19" name="f5 fond"/>
          <p:cNvSpPr/>
          <p:nvPr/>
        </p:nvSpPr>
        <p:spPr>
          <a:xfrm>
            <a:off x="3246120" y="242316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f5 puce"/>
          <p:cNvSpPr/>
          <p:nvPr/>
        </p:nvSpPr>
        <p:spPr>
          <a:xfrm>
            <a:off x="3383280" y="2560320"/>
            <a:ext cx="128016" cy="128016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3593592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Variables d'origine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Surfaces, étages, nombre de bâtiments, type de bâtiment, usage principal, quartier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423160"/>
            <a:ext cx="2651760" cy="118872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17220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Aucune fuite de données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Aucune variable n'est calculée à partir de la consommation ou des émissions ; les sources d'énergie sont exclues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préparation retire les extrêmes et les informations redondantes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234440" y="1143000"/>
            <a:ext cx="457200" cy="45720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12344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Valeurs extrêmes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Seuils 1 %–99 % calculés sur l'entraînement (la méthode IQR retirait trop de gros bâtiments) : −28 bâtiments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457200" cy="457200"/>
          </a:xfrm>
          <a:prstGeom prst="ellipse">
            <a:avLst/>
          </a:prstGeom>
          <a:solidFill>
            <a:srgbClr val="6C8EAD"/>
          </a:solidFill>
          <a:ln w="12700">
            <a:solidFill>
              <a:srgbClr val="6C8E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31927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Doublons d'information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Variables corrélées à plus de 0,7 (surfaces) : 5 variables retirées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04104" y="114300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404104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Encodage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OneHotEncoder pour les 4 variables catégorielles (sans ordre, 15 modalités maximum)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88936" y="1143000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48893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Mise à l'échelle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Vides remplacés par la médiane puis standardisation, calculées sur le train seulement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3A"/>
                </a:solidFill>
              </a:rPr>
              <a:t>Hypothèse : les deux modèles utilisent les mêmes 1 479 bâtiments, les mêmes 15 variables et le même découpage, pour comparer l'énergie et le CO2 à égalité.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démarche de test identique pour chaque modèle et chaque cible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E3F0EE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438912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Séparation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80 % </a:t>
            </a:r>
            <a:r>
              <a:rPr lang="en-US" sz="1200" dirty="0" err="1">
                <a:solidFill>
                  <a:srgbClr val="5B6B7A"/>
                </a:solidFill>
              </a:rPr>
              <a:t>entraînement</a:t>
            </a:r>
            <a:r>
              <a:rPr lang="en-US" sz="1200" dirty="0">
                <a:solidFill>
                  <a:srgbClr val="5B6B7A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(1 155 sans extrêmes) / 20 % test (296, tous conservés), graine fixée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84832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2F6F5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157984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Validation croisée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5 découpages sur l'entraînement pour mesurer la stabilité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03904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E3F0EE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877056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4 modèles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95344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Référence, linéaire, SVR, Random Forest (base puis réglé)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22976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2F6F5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596128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3 métriques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14416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R², erreur moyenne (MAE), RMSE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42048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E3F0EE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31520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Optimisation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GridSearch : 108 combinaisons, critère MAE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test garde les 7 bâtiments très gros : l'évaluation reste réaliste. Le choix du modèle repose sur la validation croisée, pas sur le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modèle de référence (valeur constante) fixe le plancher : un bon modèle doit faire nettement mieux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Random Forest est le meilleur en validation croisée, mais l'écart reste faible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Énergie (kBtu)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442351"/>
              </p:ext>
            </p:extLst>
          </p:nvPr>
        </p:nvGraphicFramePr>
        <p:xfrm>
          <a:off x="365760" y="1463040"/>
          <a:ext cx="3931919" cy="2761488"/>
        </p:xfrm>
        <a:graphic>
          <a:graphicData uri="http://schemas.openxmlformats.org/drawingml/2006/table">
            <a:tbl>
              <a:tblPr/>
              <a:tblGrid>
                <a:gridCol w="1123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490">
                  <a:extLst>
                    <a:ext uri="{9D8B030D-6E8A-4147-A177-3AD203B41FA5}">
                      <a16:colId xmlns:a16="http://schemas.microsoft.com/office/drawing/2014/main" val="1669769475"/>
                    </a:ext>
                  </a:extLst>
                </a:gridCol>
                <a:gridCol w="71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train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valid.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Référence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6,82 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Linéaire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0,63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0,57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0,65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3,34 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SVR Standard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-0,14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-0,15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-0,14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5,79 M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809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SVR réglé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0,67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0,57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3,29 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Random Forest Standard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0,95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0,58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0,69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3,37 M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67655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Random Forest réglé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0,84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0,59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0,67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3,42 M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46320" y="111055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CO2 (tonnes)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3895049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Retenu : Random Forest pour les deux cibles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D96D3DF-3E30-25F5-1542-E18E55E9A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866360"/>
              </p:ext>
            </p:extLst>
          </p:nvPr>
        </p:nvGraphicFramePr>
        <p:xfrm>
          <a:off x="4754881" y="1463040"/>
          <a:ext cx="3931919" cy="2761488"/>
        </p:xfrm>
        <a:graphic>
          <a:graphicData uri="http://schemas.openxmlformats.org/drawingml/2006/table">
            <a:tbl>
              <a:tblPr/>
              <a:tblGrid>
                <a:gridCol w="1123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490">
                  <a:extLst>
                    <a:ext uri="{9D8B030D-6E8A-4147-A177-3AD203B41FA5}">
                      <a16:colId xmlns:a16="http://schemas.microsoft.com/office/drawing/2014/main" val="1669769475"/>
                    </a:ext>
                  </a:extLst>
                </a:gridCol>
                <a:gridCol w="71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train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valid.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Référence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146,86 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Linéaire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0,40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0,29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0,32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106,29 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SVR Standard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-0,07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-0,07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-0,08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121,43 T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809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SVR réglé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0,44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0,34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0,30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</a:rPr>
                        <a:t>99,04 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Random Forest Standard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0,92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0,38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0,24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106,16 T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67655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Random Forest réglé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0,77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0,43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105,11 T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L'optimisation apporte peu : le modèle atteint la limite des données disponibles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</a:rPr>
              <a:t>GridSearch : 5 hyperparamètres (nombre d'arbres, profondeur, taille minimale des feuilles, variables par split, critère), 108 combinaisons × 5 découpages, choix sur la MAE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Énergie (kBtu)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CO2 (tonnes)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 txBox="1"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Réduction de l’écart entre R2 train et valid et Meilleur MAE.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Les données structurelles ne disent rien de l'occupation, des équipements ni des usages réels : c'est cela qui limite la précision, pas le réglage.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207ED817-11FD-551F-E790-F8E0C250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4473"/>
              </p:ext>
            </p:extLst>
          </p:nvPr>
        </p:nvGraphicFramePr>
        <p:xfrm>
          <a:off x="365759" y="2165801"/>
          <a:ext cx="3681198" cy="1152144"/>
        </p:xfrm>
        <a:graphic>
          <a:graphicData uri="http://schemas.openxmlformats.org/drawingml/2006/table">
            <a:tbl>
              <a:tblPr/>
              <a:tblGrid>
                <a:gridCol w="896964">
                  <a:extLst>
                    <a:ext uri="{9D8B030D-6E8A-4147-A177-3AD203B41FA5}">
                      <a16:colId xmlns:a16="http://schemas.microsoft.com/office/drawing/2014/main" val="1888669106"/>
                    </a:ext>
                  </a:extLst>
                </a:gridCol>
                <a:gridCol w="660467">
                  <a:extLst>
                    <a:ext uri="{9D8B030D-6E8A-4147-A177-3AD203B41FA5}">
                      <a16:colId xmlns:a16="http://schemas.microsoft.com/office/drawing/2014/main" val="1669769475"/>
                    </a:ext>
                  </a:extLst>
                </a:gridCol>
                <a:gridCol w="71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Comparatif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train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valid.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Avant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0,84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0,59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0,67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3,42 M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73302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Après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0,79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0,67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3,33 M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B93DDC65-05E6-CAF9-66BA-AA0A4F002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616029"/>
              </p:ext>
            </p:extLst>
          </p:nvPr>
        </p:nvGraphicFramePr>
        <p:xfrm>
          <a:off x="4639842" y="2165801"/>
          <a:ext cx="3681198" cy="1152144"/>
        </p:xfrm>
        <a:graphic>
          <a:graphicData uri="http://schemas.openxmlformats.org/drawingml/2006/table">
            <a:tbl>
              <a:tblPr/>
              <a:tblGrid>
                <a:gridCol w="896964">
                  <a:extLst>
                    <a:ext uri="{9D8B030D-6E8A-4147-A177-3AD203B41FA5}">
                      <a16:colId xmlns:a16="http://schemas.microsoft.com/office/drawing/2014/main" val="1888669106"/>
                    </a:ext>
                  </a:extLst>
                </a:gridCol>
                <a:gridCol w="660467">
                  <a:extLst>
                    <a:ext uri="{9D8B030D-6E8A-4147-A177-3AD203B41FA5}">
                      <a16:colId xmlns:a16="http://schemas.microsoft.com/office/drawing/2014/main" val="1669769475"/>
                    </a:ext>
                  </a:extLst>
                </a:gridCol>
                <a:gridCol w="71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Comparatif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train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valid.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Avant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0,77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0,43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0,30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105,11 T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73302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Après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0,61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0,41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0,40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79"/>
                          </a:solidFill>
                        </a:rPr>
                        <a:t>100,50 T</a:t>
                      </a:r>
                    </a:p>
                  </a:txBody>
                  <a:tcPr>
                    <a:lnL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pratique : l'énergie est estimée à 39 % près (médiane), le CO2 à 56 % près</a:t>
            </a:r>
            <a:endParaRPr lang="en-US" sz="2400" dirty="0"/>
          </a:p>
        </p:txBody>
      </p:sp>
      <p:pic>
        <p:nvPicPr>
          <p:cNvPr id="3" name="Image 0" descr="Valeurs prédites contre valeurs réel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486400" cy="246043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0" y="1097280"/>
            <a:ext cx="256032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6126480" y="1170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erreur médiane, énergie (MAE 3,3 M kBtu)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2286000"/>
            <a:ext cx="256032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6126480" y="2359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56 %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erreur médiane, CO2 (MAE 100 t)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576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Chaque point est un bâtiment du jeu de test. Plus il est proche de la ligne rouge, meilleure est la prédiction. Les gros bâtiments sont les moins bien estimés.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</a:rPr>
              <a:t>Utile pour prioriser les relevés, pas pour remplacer une mesure.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surface totale et le type de propriété pilotent les prédictions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Énergie (kBtu)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2588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CO2 (tonnes)</a:t>
            </a:r>
            <a:endParaRPr lang="en-US" sz="14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0" y="132588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Énergie : la surface totale pèse plus de la moitié de l'importance (55 %), loin devant le type de propriété (11 %)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CO2 : surface en tête (43 %), mais le type de propriété pèse davantage (20 %) : il remplace les sources d'énergie exclues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Importance en % du modèle Random Forest, confirmée par la permutation sur le jeu de 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L'API reçoit des données brutes et renvoie énergie et CO2 en un seul appel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234440" y="1143000"/>
            <a:ext cx="457200" cy="45720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12344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Requête JSON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Année, surface, quartier, usage… sans connaître notre pré-traitement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457200" cy="457200"/>
          </a:xfrm>
          <a:prstGeom prst="ellipse">
            <a:avLst/>
          </a:prstGeom>
          <a:solidFill>
            <a:srgbClr val="6C8EAD"/>
          </a:solidFill>
          <a:ln w="12700">
            <a:solidFill>
              <a:srgbClr val="6C8E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31927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Pydantic rejette les valeurs incohérentes avant qu'elles n'atteignent le modèle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04104" y="114300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404104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Variables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Mêmes formules que le notebook : âge, surface par étage, distance au centre-ville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88936" y="1143000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48893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Deux modèles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Random Forest énergie et CO2 : réponse JSON en une seule requête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3A"/>
                </a:solidFill>
              </a:rPr>
              <a:t>Un seul endpoint POST /predict. Les modèles et l'ordre exact des variables sont sauvegardés ensemble dans le Model Store de BentoML (pas de Runner, concept archivé).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validation Pydantic empêche d'envoyer des informations incohérentes</a:t>
            </a:r>
            <a:endParaRPr lang="en-US" sz="2400" dirty="0"/>
          </a:p>
        </p:txBody>
      </p:sp>
      <p:sp>
        <p:nvSpPr>
          <p:cNvPr id="3" name="f1 fond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f1 puce"/>
          <p:cNvSpPr/>
          <p:nvPr/>
        </p:nvSpPr>
        <p:spPr>
          <a:xfrm>
            <a:off x="594360" y="1234440"/>
            <a:ext cx="128016" cy="128016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0467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Année et étages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Année de 1900 à 2016 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1 à 80 étages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1 à 30 bâtiments</a:t>
            </a:r>
            <a:endParaRPr lang="en-US" sz="1200" dirty="0"/>
          </a:p>
        </p:txBody>
      </p:sp>
      <p:sp>
        <p:nvSpPr>
          <p:cNvPr id="7" name="f2 fond"/>
          <p:cNvSpPr/>
          <p:nvPr/>
        </p:nvSpPr>
        <p:spPr>
          <a:xfrm>
            <a:off x="3246120" y="109728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f2 puce"/>
          <p:cNvSpPr/>
          <p:nvPr/>
        </p:nvSpPr>
        <p:spPr>
          <a:xfrm>
            <a:off x="3383280" y="1234440"/>
            <a:ext cx="128016" cy="128016"/>
          </a:xfrm>
          <a:prstGeom prst="ellipse">
            <a:avLst/>
          </a:prstGeom>
          <a:solidFill>
            <a:srgbClr val="6C8EAD"/>
          </a:solidFill>
          <a:ln w="12700">
            <a:solidFill>
              <a:srgbClr val="6C8E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59359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Surfaces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10 000 à 2,5 M de sq ft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parking inférieur à la surface totale</a:t>
            </a:r>
            <a:endParaRPr lang="en-US" sz="1200" dirty="0"/>
          </a:p>
        </p:txBody>
      </p:sp>
      <p:sp>
        <p:nvSpPr>
          <p:cNvPr id="11" name="f3 fond"/>
          <p:cNvSpPr/>
          <p:nvPr/>
        </p:nvSpPr>
        <p:spPr>
          <a:xfrm>
            <a:off x="6035040" y="109728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f3 puce"/>
          <p:cNvSpPr/>
          <p:nvPr/>
        </p:nvSpPr>
        <p:spPr>
          <a:xfrm>
            <a:off x="6172200" y="123444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38251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Usages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1 à 3 usages différents (le jeu de données n'en décrit pas plus)</a:t>
            </a:r>
            <a:endParaRPr lang="en-US" sz="1200" dirty="0"/>
          </a:p>
        </p:txBody>
      </p:sp>
      <p:sp>
        <p:nvSpPr>
          <p:cNvPr id="15" name="f4 fond"/>
          <p:cNvSpPr/>
          <p:nvPr/>
        </p:nvSpPr>
        <p:spPr>
          <a:xfrm>
            <a:off x="457200" y="242316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4 puce"/>
          <p:cNvSpPr/>
          <p:nvPr/>
        </p:nvSpPr>
        <p:spPr>
          <a:xfrm>
            <a:off x="594360" y="2560320"/>
            <a:ext cx="128016" cy="12801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04672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Position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Latitude et longitude comprises dans les limites de Seattle</a:t>
            </a:r>
            <a:endParaRPr lang="en-US" sz="1200" dirty="0"/>
          </a:p>
        </p:txBody>
      </p:sp>
      <p:sp>
        <p:nvSpPr>
          <p:cNvPr id="19" name="f5 fond"/>
          <p:cNvSpPr/>
          <p:nvPr/>
        </p:nvSpPr>
        <p:spPr>
          <a:xfrm>
            <a:off x="3246120" y="2423160"/>
            <a:ext cx="2651760" cy="118872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f5 puce"/>
          <p:cNvSpPr/>
          <p:nvPr/>
        </p:nvSpPr>
        <p:spPr>
          <a:xfrm>
            <a:off x="3383280" y="2560320"/>
            <a:ext cx="128016" cy="128016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3593592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Listes fermées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Usage principal, type de bâtiment et quartier : valeurs vues à l'entraînement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423160"/>
            <a:ext cx="2651760" cy="118872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17220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Erreur 400 explicite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Surface par étage d'au moins 500 sq ft ; le champ fautif est indiqué à l'utilisateur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2263A"/>
                </a:solidFill>
              </a:rPr>
              <a:t>Un Random Forest répond toujours, même à une entrée absurde : la validation protège la qualité des prédictions. Les plages reprennent celles vues à l'entraînement.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local, bentoml serve expose l'API, testée par Swagger et par requêtes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E3F0EE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438912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Sauvegarde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Les 2 modèles et la liste ordonnée des variables entrent dans le Model Store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84832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2F6F5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157984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Service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service.py : classe BentoML, endpoint /predict, validation Pydantic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03904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E3F0EE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877056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Lancement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95344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bentoml serve : API sur le port 3000, Swagger à la racine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22976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2F6F5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596128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Tests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14416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Requêtes valides (200) et incohérentes (400), via Swagger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42048" y="118872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E3F0EE"/>
          </a:solidFill>
          <a:ln w="9525">
            <a:solidFill>
              <a:srgbClr val="CFDD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31520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79"/>
                </a:solidFill>
              </a:rPr>
              <a:t>Formulaire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17830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Page web en français servie par le même service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versions des bibliothèques sont épinglées dans bentofile.yaml (scikit-learn 1.9.1…) : le modèle doit être relu par la version qui l'a sauvegardé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bentofile.yaml ne liste que le nécessaire (service, page HTML, dépendances) pour garder l'image Docker légère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</a:t>
            </a:r>
            <a:r>
              <a:rPr lang="en-US" sz="2400" b="1" dirty="0" err="1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formulaire</a:t>
            </a: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qui </a:t>
            </a: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 le modèle utilisable par </a:t>
            </a: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le métier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126480" y="1097280"/>
            <a:ext cx="256032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6126480" y="14859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dirty="0">
                <a:solidFill>
                  <a:srgbClr val="1B7F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l'énergie et le CO2 ensemble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58647" y="1188720"/>
            <a:ext cx="2695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Le </a:t>
            </a:r>
            <a:r>
              <a:rPr lang="en-US" sz="1200" dirty="0" err="1">
                <a:solidFill>
                  <a:srgbClr val="5B6B7A"/>
                </a:solidFill>
              </a:rPr>
              <a:t>lancement</a:t>
            </a:r>
            <a:r>
              <a:rPr lang="en-US" sz="1200" dirty="0">
                <a:solidFill>
                  <a:srgbClr val="5B6B7A"/>
                </a:solidFill>
              </a:rPr>
              <a:t> </a:t>
            </a:r>
            <a:r>
              <a:rPr lang="en-US" sz="1200" dirty="0" err="1">
                <a:solidFill>
                  <a:srgbClr val="5B6B7A"/>
                </a:solidFill>
              </a:rPr>
              <a:t>d’une</a:t>
            </a:r>
            <a:r>
              <a:rPr lang="en-US" sz="1200" dirty="0">
                <a:solidFill>
                  <a:srgbClr val="5B6B7A"/>
                </a:solidFill>
              </a:rPr>
              <a:t> estimation propose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2286000"/>
            <a:ext cx="2560320" cy="1005840"/>
          </a:xfrm>
          <a:prstGeom prst="rect">
            <a:avLst/>
          </a:prstGeom>
          <a:solidFill>
            <a:srgbClr val="F2F6F5"/>
          </a:solidFill>
          <a:ln w="9525">
            <a:solidFill>
              <a:srgbClr val="DDE6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6126480" y="2359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pi² ou m²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position GPS pré-remplie par quartier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576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Page servie à l'adresse /Accueil_conso/ du même service : aucune installation pour l'utilisateur.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</a:rPr>
              <a:t>Estimation indicative : l'écart médian (39 % et 56 %) est rappelé à l'écran.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26" name="Picture 25" descr="form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23940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modèle est empaqueté dans une image Docker puis publié sur Google Cloud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234440" y="1739751"/>
            <a:ext cx="457200" cy="45720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1234440" y="17397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411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Bento local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987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bentoml build puis export : service, modèles et dépendances dans un fichier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739751"/>
            <a:ext cx="457200" cy="457200"/>
          </a:xfrm>
          <a:prstGeom prst="ellipse">
            <a:avLst/>
          </a:prstGeom>
          <a:solidFill>
            <a:srgbClr val="6C8EAD"/>
          </a:solidFill>
          <a:ln w="12700">
            <a:solidFill>
              <a:srgbClr val="6C8E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319272" y="17397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33411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 Shell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69987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Import du bento et préparation du contexte de build avec les modèles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04104" y="1739751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404104" y="17397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33411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Image Docker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69987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Cloud Build construit l'image, stockée dans Artifact Registry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88936" y="1739751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488936" y="17397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33411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 Run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69987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Déploiement : port 3000, 2 Go de mémoire, accès public, 1 instance maximum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21" name="Image 20" descr="Google Cloud Logo">
            <a:extLst>
              <a:ext uri="{FF2B5EF4-FFF2-40B4-BE49-F238E27FC236}">
                <a16:creationId xmlns:a16="http://schemas.microsoft.com/office/drawing/2014/main" id="{F8765B0D-3387-AB83-10B7-83722F5A5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121" y="3525237"/>
            <a:ext cx="2705645" cy="15313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 faut retenir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Un Random Forest estime la consommation d'énergie à ± 39 % (médiane) et le CO2 à ± 56 %, avec les seules données structurelles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La surface totale fait l'essentiel ; le type de propriété compte surtout pour les émissions de CO2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Le modèle est exposé par une API BentoML validée par Pydantic, empaquetée dans Docker et déployée sur Google Cloud Run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FE3E0"/>
                </a:solidFill>
              </a:rPr>
              <a:t>Limites : sur-</a:t>
            </a:r>
            <a:r>
              <a:rPr lang="en-US" sz="1400" i="1" dirty="0" err="1">
                <a:solidFill>
                  <a:srgbClr val="CFE3E0"/>
                </a:solidFill>
              </a:rPr>
              <a:t>apprentissage</a:t>
            </a:r>
            <a:r>
              <a:rPr lang="en-US" sz="1400" i="1" dirty="0">
                <a:solidFill>
                  <a:srgbClr val="CFE3E0"/>
                </a:solidFill>
              </a:rPr>
              <a:t>, 1 479 bâtiments seulement. </a:t>
            </a:r>
          </a:p>
          <a:p>
            <a:pPr marL="0" indent="0">
              <a:buNone/>
            </a:pPr>
            <a:endParaRPr lang="en-US" sz="1400" i="1" dirty="0">
              <a:solidFill>
                <a:srgbClr val="CFE3E0"/>
              </a:solidFill>
            </a:endParaRPr>
          </a:p>
          <a:p>
            <a:pPr marL="0" indent="0">
              <a:buNone/>
            </a:pPr>
            <a:r>
              <a:rPr lang="en-US" sz="1400" i="1" dirty="0" err="1">
                <a:solidFill>
                  <a:srgbClr val="CFE3E0"/>
                </a:solidFill>
              </a:rPr>
              <a:t>Améliorations</a:t>
            </a:r>
            <a:r>
              <a:rPr lang="en-US" sz="1400" i="1" dirty="0">
                <a:solidFill>
                  <a:srgbClr val="CFE3E0"/>
                </a:solidFill>
              </a:rPr>
              <a:t> : données 2015-2026, Tester d’autres </a:t>
            </a:r>
            <a:r>
              <a:rPr lang="en-US" sz="1400" i="1" dirty="0" err="1">
                <a:solidFill>
                  <a:srgbClr val="CFE3E0"/>
                </a:solidFill>
              </a:rPr>
              <a:t>modèles</a:t>
            </a:r>
            <a:r>
              <a:rPr lang="en-US" sz="1400" i="1" dirty="0">
                <a:solidFill>
                  <a:srgbClr val="CFE3E0"/>
                </a:solidFill>
              </a:rPr>
              <a:t>, augmentation type de données (occupation, </a:t>
            </a:r>
            <a:r>
              <a:rPr lang="en-US" sz="1400" i="1" dirty="0" err="1">
                <a:solidFill>
                  <a:srgbClr val="CFE3E0"/>
                </a:solidFill>
              </a:rPr>
              <a:t>équipements</a:t>
            </a:r>
            <a:r>
              <a:rPr lang="en-US" sz="1400" i="1" dirty="0">
                <a:solidFill>
                  <a:srgbClr val="CFE3E0"/>
                </a:solidFill>
              </a:rPr>
              <a:t> </a:t>
            </a:r>
            <a:r>
              <a:rPr lang="en-US" sz="1400" i="1" dirty="0" err="1">
                <a:solidFill>
                  <a:srgbClr val="CFE3E0"/>
                </a:solidFill>
              </a:rPr>
              <a:t>etc</a:t>
            </a:r>
            <a:r>
              <a:rPr lang="en-US" sz="1400" i="1" dirty="0">
                <a:solidFill>
                  <a:srgbClr val="CFE3E0"/>
                </a:solidFill>
              </a:rPr>
              <a:t>…)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ttle Energie">
  <a:themeElements>
    <a:clrScheme name="Seattle Energie">
      <a:dk1>
        <a:srgbClr val="12263A"/>
      </a:dk1>
      <a:lt1>
        <a:srgbClr val="FFFFFF"/>
      </a:lt1>
      <a:dk2>
        <a:srgbClr val="1F4E5F"/>
      </a:dk2>
      <a:lt2>
        <a:srgbClr val="F2F6F5"/>
      </a:lt2>
      <a:accent1>
        <a:srgbClr val="1B7F79"/>
      </a:accent1>
      <a:accent2>
        <a:srgbClr val="F2A541"/>
      </a:accent2>
      <a:accent3>
        <a:srgbClr val="D1495B"/>
      </a:accent3>
      <a:accent4>
        <a:srgbClr val="6C8EAD"/>
      </a:accent4>
      <a:accent5>
        <a:srgbClr val="2E7D4F"/>
      </a:accent5>
      <a:accent6>
        <a:srgbClr val="8D99AE"/>
      </a:accent6>
      <a:hlink>
        <a:srgbClr val="1B7F79"/>
      </a:hlink>
      <a:folHlink>
        <a:srgbClr val="6C8EAD"/>
      </a:folHlink>
    </a:clrScheme>
    <a:fontScheme name="Seattle Energi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1771</Words>
  <Application>Microsoft Office PowerPoint</Application>
  <PresentationFormat>Affichage à l'écran (16:9)</PresentationFormat>
  <Paragraphs>313</Paragraphs>
  <Slides>19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Seattle Energie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6 - Consommation et émissions des bâtiments de Seattle</dc:title>
  <dc:subject>PptxGenJS Presentation</dc:subject>
  <dc:creator>PptxGenJS</dc:creator>
  <cp:lastModifiedBy>BIDEAU Benjamin</cp:lastModifiedBy>
  <cp:revision>12</cp:revision>
  <dcterms:created xsi:type="dcterms:W3CDTF">2026-10-14T10:00:22Z</dcterms:created>
  <dcterms:modified xsi:type="dcterms:W3CDTF">2026-10-29T14:41:06Z</dcterms:modified>
</cp:coreProperties>
</file>